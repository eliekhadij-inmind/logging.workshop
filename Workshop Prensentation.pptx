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0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272" r:id="rId19"/>
    <p:sldId id="320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53CC40C-9546-437E-8B2D-162E1FF6CCC1}">
  <a:tblStyle styleId="{553CC40C-9546-437E-8B2D-162E1FF6CC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317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24e5c2c9e45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24e5c2c9e45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3726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46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1741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41369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30203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55098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42063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28055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69801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69516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81728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16729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64698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" name="Google Shape;2071;g24f622bbca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2" name="Google Shape;2072;g24f622bbca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2665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9" name="Google Shape;99;p3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00" name="Google Shape;100;p3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01" name="Google Shape;101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03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" name="Google Shape;106;p3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07" name="Google Shape;10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" name="Google Shape;10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9" name="Google Shape;10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10" name="Google Shape;11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15" name="Google Shape;11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116;p3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17" name="Google Shape;11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" name="Google Shape;11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9" name="Google Shape;11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25" name="Google Shape;12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" name="Google Shape;126;p3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27" name="Google Shape;12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" name="Google Shape;12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9" name="Google Shape;12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" name="Google Shape;13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35" name="Google Shape;13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"/>
          <p:cNvSpPr txBox="1">
            <a:spLocks noGrp="1"/>
          </p:cNvSpPr>
          <p:nvPr>
            <p:ph type="subTitle" idx="1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>
            <a:endParaRPr/>
          </a:p>
        </p:txBody>
      </p:sp>
      <p:sp>
        <p:nvSpPr>
          <p:cNvPr id="340" name="Google Shape;340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41" name="Google Shape;341;p7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342" name="Google Shape;342;p7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" name="Google Shape;344;p7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345" name="Google Shape;345;p7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7" name="Google Shape;347;p7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49" name="Google Shape;349;p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0" name="Google Shape;350;p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1" name="Google Shape;351;p7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352" name="Google Shape;352;p7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7"/>
            <p:cNvSpPr/>
            <p:nvPr/>
          </p:nvSpPr>
          <p:spPr>
            <a:xfrm>
              <a:off x="363250" y="4667754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941424" y="4724302"/>
              <a:ext cx="340329" cy="325895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20562" y="49581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1299000" y="46085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8" name="Google Shape;358;p7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359" name="Google Shape;3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1" name="Google Shape;361;p7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362" name="Google Shape;3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13"/>
          <p:cNvSpPr txBox="1">
            <a:spLocks noGrp="1"/>
          </p:cNvSpPr>
          <p:nvPr>
            <p:ph type="subTitle" idx="1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13"/>
          <p:cNvSpPr txBox="1">
            <a:spLocks noGrp="1"/>
          </p:cNvSpPr>
          <p:nvPr>
            <p:ph type="subTitle" idx="2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13"/>
          <p:cNvSpPr txBox="1">
            <a:spLocks noGrp="1"/>
          </p:cNvSpPr>
          <p:nvPr>
            <p:ph type="subTitle" idx="3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13"/>
          <p:cNvSpPr txBox="1">
            <a:spLocks noGrp="1"/>
          </p:cNvSpPr>
          <p:nvPr>
            <p:ph type="subTitle" idx="4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2" name="Google Shape;502;p13"/>
          <p:cNvSpPr txBox="1">
            <a:spLocks noGrp="1"/>
          </p:cNvSpPr>
          <p:nvPr>
            <p:ph type="title" idx="7" hasCustomPrompt="1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3"/>
          <p:cNvSpPr txBox="1">
            <a:spLocks noGrp="1"/>
          </p:cNvSpPr>
          <p:nvPr>
            <p:ph type="title" idx="8" hasCustomPrompt="1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4" name="Google Shape;504;p13"/>
          <p:cNvSpPr txBox="1">
            <a:spLocks noGrp="1"/>
          </p:cNvSpPr>
          <p:nvPr>
            <p:ph type="subTitle" idx="9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5" name="Google Shape;505;p13"/>
          <p:cNvSpPr txBox="1">
            <a:spLocks noGrp="1"/>
          </p:cNvSpPr>
          <p:nvPr>
            <p:ph type="subTitle" idx="13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6" name="Google Shape;506;p13"/>
          <p:cNvSpPr txBox="1">
            <a:spLocks noGrp="1"/>
          </p:cNvSpPr>
          <p:nvPr>
            <p:ph type="subTitle" idx="14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07" name="Google Shape;507;p13"/>
          <p:cNvSpPr txBox="1">
            <a:spLocks noGrp="1"/>
          </p:cNvSpPr>
          <p:nvPr>
            <p:ph type="subTitle" idx="15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508" name="Google Shape;508;p13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09" name="Google Shape;509;p13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0" name="Google Shape;510;p13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11" name="Google Shape;511;p13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8" name="Google Shape;518;p13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19" name="Google Shape;51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dk2">
                  <a:alpha val="313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0" name="Google Shape;52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1" name="Google Shape;52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" name="Google Shape;52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3" name="Google Shape;523;p13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24" name="Google Shape;524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dk2">
                  <a:alpha val="313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5" name="Google Shape;525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6" name="Google Shape;526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8" name="Google Shape;528;p13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29" name="Google Shape;52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dk2">
                  <a:alpha val="313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30" name="Google Shape;53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31" name="Google Shape;53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" name="Google Shape;53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533" name="Google Shape;533;p13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34" name="Google Shape;534;p13"/>
            <p:cNvGrpSpPr/>
            <p:nvPr/>
          </p:nvGrpSpPr>
          <p:grpSpPr>
            <a:xfrm rot="-2700000" flipH="1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35" name="Google Shape;535;p1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8" name="Google Shape;538;p13"/>
            <p:cNvSpPr/>
            <p:nvPr/>
          </p:nvSpPr>
          <p:spPr>
            <a:xfrm>
              <a:off x="6394675" y="0"/>
              <a:ext cx="284119" cy="246048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6627600" y="-49075"/>
              <a:ext cx="570546" cy="494095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13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41" name="Google Shape;541;p13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42" name="Google Shape;542;p13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3" name="Google Shape;543;p13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1" name="Google Shape;761;p19"/>
          <p:cNvSpPr txBox="1">
            <a:spLocks noGrp="1"/>
          </p:cNvSpPr>
          <p:nvPr>
            <p:ph type="subTitle" idx="1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19"/>
          <p:cNvSpPr txBox="1">
            <a:spLocks noGrp="1"/>
          </p:cNvSpPr>
          <p:nvPr>
            <p:ph type="subTitle" idx="2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63" name="Google Shape;763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764" name="Google Shape;764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avLst/>
              <a:gdLst/>
              <a:ahLst/>
              <a:cxnLst/>
              <a:rect l="l" t="t" r="r" b="b"/>
              <a:pathLst>
                <a:path w="306" h="27731" extrusionOk="0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avLst/>
              <a:gdLst/>
              <a:ahLst/>
              <a:cxnLst/>
              <a:rect l="l" t="t" r="r" b="b"/>
              <a:pathLst>
                <a:path w="305" h="27731" extrusionOk="0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oogle Shape;1340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1" name="Google Shape;1341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2" name="Google Shape;1342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6" name="Google Shape;1346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7" name="Google Shape;1347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8" name="Google Shape;1348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9" name="Google Shape;134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0" name="Google Shape;135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1" name="Google Shape;1351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2" name="Google Shape;1352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4" name="Google Shape;1354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6" name="Google Shape;1356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7" name="Google Shape;1357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9" name="Google Shape;1359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60" name="Google Shape;1360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7" name="Google Shape;1367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8" name="Google Shape;1368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5" name="Google Shape;1375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6" name="Google Shape;1376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9" name="Google Shape;1379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80" name="Google Shape;138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2" name="Google Shape;1382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3" name="Google Shape;1383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4" name="Google Shape;1384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5" name="Google Shape;1385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6" name="Google Shape;1386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7" name="Google Shape;1387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90" name="Google Shape;139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1" name="Google Shape;1391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2" name="Google Shape;1392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3" name="Google Shape;1393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4" name="Google Shape;1394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0" name="Google Shape;1400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1" name="Google Shape;1401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2" name="Google Shape;1402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8" name="Google Shape;1408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9" name="Google Shape;1409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10" name="Google Shape;1410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6" name="Google Shape;1416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7" name="Google Shape;1417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8" name="Google Shape;1418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9" name="Google Shape;1419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20" name="Google Shape;1420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8" r:id="rId4"/>
    <p:sldLayoutId id="2147483659" r:id="rId5"/>
    <p:sldLayoutId id="2147483665" r:id="rId6"/>
    <p:sldLayoutId id="2147483676" r:id="rId7"/>
    <p:sldLayoutId id="2147483677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35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 Elie Khadij</a:t>
            </a:r>
            <a:endParaRPr dirty="0"/>
          </a:p>
        </p:txBody>
      </p:sp>
      <p:sp>
        <p:nvSpPr>
          <p:cNvPr id="1432" name="Google Shape;1432;p35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Introduction to Logging</a:t>
            </a:r>
            <a:r>
              <a:rPr lang="en" dirty="0"/>
              <a:t> </a:t>
            </a:r>
            <a:r>
              <a:rPr lang="en" dirty="0">
                <a:solidFill>
                  <a:schemeClr val="dk1"/>
                </a:solidFill>
              </a:rPr>
              <a:t>Workshop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433" name="Google Shape;1433;p35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34" name="Google Shape;1434;p3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5" name="Google Shape;1435;p3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6" name="Google Shape;1436;p3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3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8" name="Google Shape;1438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9" name="Google Shape;1439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40" name="Google Shape;1440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1" name="Google Shape;1441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2" name="Google Shape;1442;p35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3" name="Google Shape;1443;p35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4" name="Google Shape;1444;p35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5" name="Google Shape;1445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7" name="Google Shape;1447;p35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8" name="Google Shape;1448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0" name="Google Shape;1450;p35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1" name="Google Shape;1451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3" name="Google Shape;1453;p35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Table of contents</a:t>
            </a:r>
            <a:endParaRPr sz="320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68" name="Google Shape;1468;p37"/>
          <p:cNvSpPr txBox="1">
            <a:spLocks noGrp="1"/>
          </p:cNvSpPr>
          <p:nvPr>
            <p:ph type="subTitle" idx="9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Logging?</a:t>
            </a:r>
            <a:endParaRPr dirty="0"/>
          </a:p>
        </p:txBody>
      </p:sp>
      <p:sp>
        <p:nvSpPr>
          <p:cNvPr id="1473" name="Google Shape;1473;p37"/>
          <p:cNvSpPr txBox="1">
            <a:spLocks noGrp="1"/>
          </p:cNvSpPr>
          <p:nvPr>
            <p:ph type="title" idx="5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474" name="Google Shape;1474;p37"/>
          <p:cNvSpPr txBox="1">
            <a:spLocks noGrp="1"/>
          </p:cNvSpPr>
          <p:nvPr>
            <p:ph type="title" idx="6"/>
          </p:nvPr>
        </p:nvSpPr>
        <p:spPr>
          <a:xfrm>
            <a:off x="720003" y="2320975"/>
            <a:ext cx="10575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475" name="Google Shape;1475;p37"/>
          <p:cNvSpPr txBox="1">
            <a:spLocks noGrp="1"/>
          </p:cNvSpPr>
          <p:nvPr>
            <p:ph type="title" idx="7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476" name="Google Shape;1476;p37"/>
          <p:cNvSpPr txBox="1">
            <a:spLocks noGrp="1"/>
          </p:cNvSpPr>
          <p:nvPr>
            <p:ph type="title" idx="8"/>
          </p:nvPr>
        </p:nvSpPr>
        <p:spPr>
          <a:xfrm>
            <a:off x="4366697" y="2358142"/>
            <a:ext cx="10575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477" name="Google Shape;1477;p37"/>
          <p:cNvSpPr txBox="1">
            <a:spLocks noGrp="1"/>
          </p:cNvSpPr>
          <p:nvPr>
            <p:ph type="subTitle" idx="13"/>
          </p:nvPr>
        </p:nvSpPr>
        <p:spPr>
          <a:xfrm>
            <a:off x="4366697" y="1918675"/>
            <a:ext cx="4057299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What, When to Log</a:t>
            </a:r>
            <a:endParaRPr dirty="0"/>
          </a:p>
        </p:txBody>
      </p:sp>
      <p:sp>
        <p:nvSpPr>
          <p:cNvPr id="1478" name="Google Shape;1478;p37"/>
          <p:cNvSpPr txBox="1">
            <a:spLocks noGrp="1"/>
          </p:cNvSpPr>
          <p:nvPr>
            <p:ph type="subTitle" idx="14"/>
          </p:nvPr>
        </p:nvSpPr>
        <p:spPr>
          <a:xfrm>
            <a:off x="720000" y="2938370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Frameworks and tools</a:t>
            </a:r>
            <a:endParaRPr dirty="0"/>
          </a:p>
        </p:txBody>
      </p:sp>
      <p:sp>
        <p:nvSpPr>
          <p:cNvPr id="1479" name="Google Shape;1479;p37"/>
          <p:cNvSpPr txBox="1">
            <a:spLocks noGrp="1"/>
          </p:cNvSpPr>
          <p:nvPr>
            <p:ph type="subTitle" idx="15"/>
          </p:nvPr>
        </p:nvSpPr>
        <p:spPr>
          <a:xfrm>
            <a:off x="4366697" y="2938370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Best Practices</a:t>
            </a:r>
            <a:endParaRPr dirty="0"/>
          </a:p>
        </p:txBody>
      </p:sp>
      <p:sp>
        <p:nvSpPr>
          <p:cNvPr id="25" name="Google Shape;1474;p37">
            <a:extLst>
              <a:ext uri="{FF2B5EF4-FFF2-40B4-BE49-F238E27FC236}">
                <a16:creationId xmlns:a16="http://schemas.microsoft.com/office/drawing/2014/main" id="{617E2680-68FA-4831-A841-B65D707FBCD9}"/>
              </a:ext>
            </a:extLst>
          </p:cNvPr>
          <p:cNvSpPr txBox="1">
            <a:spLocks/>
          </p:cNvSpPr>
          <p:nvPr/>
        </p:nvSpPr>
        <p:spPr>
          <a:xfrm>
            <a:off x="720003" y="3340670"/>
            <a:ext cx="10575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26" name="Google Shape;1476;p37">
            <a:extLst>
              <a:ext uri="{FF2B5EF4-FFF2-40B4-BE49-F238E27FC236}">
                <a16:creationId xmlns:a16="http://schemas.microsoft.com/office/drawing/2014/main" id="{0BD14978-9783-4AB5-A0AE-646AE096F62E}"/>
              </a:ext>
            </a:extLst>
          </p:cNvPr>
          <p:cNvSpPr txBox="1">
            <a:spLocks/>
          </p:cNvSpPr>
          <p:nvPr/>
        </p:nvSpPr>
        <p:spPr>
          <a:xfrm>
            <a:off x="4366697" y="3313169"/>
            <a:ext cx="10575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rPr lang="en" dirty="0"/>
              <a:t>06</a:t>
            </a:r>
          </a:p>
        </p:txBody>
      </p:sp>
      <p:sp>
        <p:nvSpPr>
          <p:cNvPr id="27" name="Google Shape;1478;p37">
            <a:extLst>
              <a:ext uri="{FF2B5EF4-FFF2-40B4-BE49-F238E27FC236}">
                <a16:creationId xmlns:a16="http://schemas.microsoft.com/office/drawing/2014/main" id="{9986049D-1FDB-46E8-B2A0-F132647BD1E7}"/>
              </a:ext>
            </a:extLst>
          </p:cNvPr>
          <p:cNvSpPr txBox="1">
            <a:spLocks/>
          </p:cNvSpPr>
          <p:nvPr/>
        </p:nvSpPr>
        <p:spPr>
          <a:xfrm>
            <a:off x="720000" y="3871356"/>
            <a:ext cx="32337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19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/>
            <a:r>
              <a:rPr lang="en-US" dirty="0"/>
              <a:t>Code Review</a:t>
            </a:r>
          </a:p>
        </p:txBody>
      </p:sp>
      <p:sp>
        <p:nvSpPr>
          <p:cNvPr id="28" name="Google Shape;1479;p37">
            <a:extLst>
              <a:ext uri="{FF2B5EF4-FFF2-40B4-BE49-F238E27FC236}">
                <a16:creationId xmlns:a16="http://schemas.microsoft.com/office/drawing/2014/main" id="{3E49FE50-3283-4F4F-A861-47CCAFC8D317}"/>
              </a:ext>
            </a:extLst>
          </p:cNvPr>
          <p:cNvSpPr txBox="1">
            <a:spLocks/>
          </p:cNvSpPr>
          <p:nvPr/>
        </p:nvSpPr>
        <p:spPr>
          <a:xfrm>
            <a:off x="4366697" y="3871356"/>
            <a:ext cx="32337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19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/>
            <a:r>
              <a:rPr lang="en-US" dirty="0"/>
              <a:t>Hands on exercise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4" name="Google Shape;1484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85" name="Google Shape;1485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0" name="Google Shape;1490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1" name="Google Shape;1491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492" name="Google Shape;1492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9" name="Google Shape;1499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0" name="Google Shape;1500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7" name="Google Shape;1507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08" name="Google Shape;1508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0" name="Google Shape;1510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11" name="Google Shape;1511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3" name="Google Shape;1513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14" name="Google Shape;1514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516" name="Google Shape;1516;p38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517" name="Google Shape;1517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18" name="Google Shape;1518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519" name="Google Shape;1519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22" name="Google Shape;1522;p38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955594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logging</a:t>
            </a:r>
            <a:endParaRPr dirty="0"/>
          </a:p>
        </p:txBody>
      </p:sp>
      <p:grpSp>
        <p:nvGrpSpPr>
          <p:cNvPr id="1523" name="Google Shape;1523;p38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4" name="Google Shape;1524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5" name="Google Shape;1525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6" name="Google Shape;1526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532" name="Google Shape;1532;p39"/>
          <p:cNvSpPr txBox="1">
            <a:spLocks noGrp="1"/>
          </p:cNvSpPr>
          <p:nvPr>
            <p:ph type="subTitle" idx="1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Poor logging can lead to insufficient information for debugging or excessive noise.</a:t>
            </a:r>
          </a:p>
        </p:txBody>
      </p:sp>
      <p:sp>
        <p:nvSpPr>
          <p:cNvPr id="1533" name="Google Shape;1533;p39"/>
          <p:cNvSpPr txBox="1">
            <a:spLocks noGrp="1"/>
          </p:cNvSpPr>
          <p:nvPr>
            <p:ph type="subTitle" idx="2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Logging is critical for debugging, monitoring, and auditing applications.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 It helps track application behavior, identify issues, and improve performance.</a:t>
            </a:r>
          </a:p>
          <a:p>
            <a:pPr marL="139700" indent="0" algn="l"/>
            <a:endParaRPr lang="en-US" b="0" i="0" dirty="0">
              <a:solidFill>
                <a:srgbClr val="F8FAFF"/>
              </a:solidFill>
              <a:effectLst/>
              <a:latin typeface="Inter"/>
            </a:endParaRPr>
          </a:p>
        </p:txBody>
      </p:sp>
      <p:grpSp>
        <p:nvGrpSpPr>
          <p:cNvPr id="1534" name="Google Shape;1534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5" name="Google Shape;1535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6" name="Google Shape;1536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8" name="Google Shape;1538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9" name="Google Shape;1539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0" name="Google Shape;1540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1" name="Google Shape;1541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533" name="Google Shape;1533;p39"/>
          <p:cNvSpPr txBox="1">
            <a:spLocks noGrp="1"/>
          </p:cNvSpPr>
          <p:nvPr>
            <p:ph type="subTitle" idx="2"/>
          </p:nvPr>
        </p:nvSpPr>
        <p:spPr>
          <a:xfrm>
            <a:off x="720000" y="1786675"/>
            <a:ext cx="72216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NET Core provides a built-in logging framework (</a:t>
            </a:r>
            <a:r>
              <a:rPr lang="en-US" b="1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Microsoft.Extensions.Logging</a:t>
            </a: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).</a:t>
            </a:r>
          </a:p>
          <a:p>
            <a:pPr marL="139700" indent="0" algn="l"/>
            <a:endParaRPr lang="en-US" b="0" i="0" dirty="0"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It supports multiple logging providers (e.g., Console, Debug, File, Azure App Insights, etc.).</a:t>
            </a:r>
          </a:p>
          <a:p>
            <a:pPr marL="139700" indent="0" algn="l"/>
            <a:endParaRPr lang="en-US" b="0" i="0" dirty="0"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Logging is highly configurable and extensible.</a:t>
            </a:r>
          </a:p>
        </p:txBody>
      </p:sp>
      <p:grpSp>
        <p:nvGrpSpPr>
          <p:cNvPr id="1534" name="Google Shape;1534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5" name="Google Shape;1535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6" name="Google Shape;1536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8" name="Google Shape;1538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9" name="Google Shape;1539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0" name="Google Shape;1540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1" name="Google Shape;1541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D7861C1-3620-47A6-B16A-184B9440B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292A2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.NET Core provides a built-in logging framework (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8FAFF"/>
                </a:solidFill>
                <a:effectLst/>
                <a:latin typeface="var(--ds-font-family-code)"/>
              </a:rPr>
              <a:t>Microsoft.Extensions.Logging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It supports multiple logging providers (e.g., Console, Debug, File, Azure App Insights,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Logging is highly configurable and extensible.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927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4" name="Google Shape;1484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85" name="Google Shape;1485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0" name="Google Shape;1490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1" name="Google Shape;1491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492" name="Google Shape;1492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9" name="Google Shape;1499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0" name="Google Shape;1500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7" name="Google Shape;1507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08" name="Google Shape;1508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0" name="Google Shape;1510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11" name="Google Shape;1511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3" name="Google Shape;1513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14" name="Google Shape;1514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1516" name="Google Shape;1516;p38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517" name="Google Shape;1517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18" name="Google Shape;1518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519" name="Google Shape;1519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22" name="Google Shape;1522;p38"/>
          <p:cNvSpPr txBox="1">
            <a:spLocks noGrp="1"/>
          </p:cNvSpPr>
          <p:nvPr>
            <p:ph type="title"/>
          </p:nvPr>
        </p:nvSpPr>
        <p:spPr>
          <a:xfrm>
            <a:off x="719999" y="2079325"/>
            <a:ext cx="6683509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What, When to log</a:t>
            </a:r>
            <a:endParaRPr dirty="0"/>
          </a:p>
        </p:txBody>
      </p:sp>
      <p:grpSp>
        <p:nvGrpSpPr>
          <p:cNvPr id="1523" name="Google Shape;1523;p38"/>
          <p:cNvGrpSpPr/>
          <p:nvPr/>
        </p:nvGrpSpPr>
        <p:grpSpPr>
          <a:xfrm>
            <a:off x="796100" y="2990901"/>
            <a:ext cx="4558967" cy="134100"/>
            <a:chOff x="796100" y="3019701"/>
            <a:chExt cx="4558967" cy="134100"/>
          </a:xfrm>
        </p:grpSpPr>
        <p:sp>
          <p:nvSpPr>
            <p:cNvPr id="1524" name="Google Shape;1524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5" name="Google Shape;1525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6" name="Google Shape;1526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56588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What, When and how to log</a:t>
            </a:r>
            <a:endParaRPr dirty="0"/>
          </a:p>
        </p:txBody>
      </p:sp>
      <p:sp>
        <p:nvSpPr>
          <p:cNvPr id="1533" name="Google Shape;1533;p39"/>
          <p:cNvSpPr txBox="1">
            <a:spLocks noGrp="1"/>
          </p:cNvSpPr>
          <p:nvPr>
            <p:ph type="subTitle" idx="2"/>
          </p:nvPr>
        </p:nvSpPr>
        <p:spPr>
          <a:xfrm>
            <a:off x="720000" y="1786675"/>
            <a:ext cx="44628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l"/>
            <a:r>
              <a:rPr lang="en-US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What to log?</a:t>
            </a:r>
          </a:p>
          <a:p>
            <a:pPr marL="482600" indent="-342900" algn="l">
              <a:buFont typeface="+mj-lt"/>
              <a:buAutoNum type="arabicPeriod"/>
            </a:pPr>
            <a:r>
              <a:rPr lang="en-US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Errors</a:t>
            </a:r>
            <a:r>
              <a:rPr lang="en-US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and</a:t>
            </a:r>
            <a:r>
              <a:rPr lang="en-US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Exceptions</a:t>
            </a:r>
            <a:endParaRPr lang="en-US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82600" indent="-342900" algn="l">
              <a:buFont typeface="+mj-lt"/>
              <a:buAutoNum type="arabicPeriod"/>
            </a:pPr>
            <a:r>
              <a:rPr lang="en-US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Critical Events</a:t>
            </a: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business or system events.</a:t>
            </a:r>
          </a:p>
          <a:p>
            <a:pPr marL="482600" indent="-342900" algn="l">
              <a:buFont typeface="+mj-lt"/>
              <a:buAutoNum type="arabicPeriod"/>
            </a:pPr>
            <a:r>
              <a:rPr lang="en-US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Warnings</a:t>
            </a: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potential issues that don’t break the application but need attention.</a:t>
            </a:r>
          </a:p>
          <a:p>
            <a:pPr marL="482600" indent="-342900" algn="l">
              <a:buFont typeface="+mj-lt"/>
              <a:buAutoNum type="arabicPeriod"/>
            </a:pPr>
            <a:r>
              <a:rPr lang="en-US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Information</a:t>
            </a: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Log high-level application flow. </a:t>
            </a:r>
          </a:p>
          <a:p>
            <a:pPr marL="482600" indent="-342900" algn="l">
              <a:buFont typeface="+mj-lt"/>
              <a:buAutoNum type="arabicPeriod"/>
            </a:pPr>
            <a:r>
              <a:rPr lang="en-US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Debug Details</a:t>
            </a: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Log detailed information for debugging purposes.</a:t>
            </a:r>
          </a:p>
        </p:txBody>
      </p:sp>
      <p:grpSp>
        <p:nvGrpSpPr>
          <p:cNvPr id="1534" name="Google Shape;1534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5" name="Google Shape;1535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6" name="Google Shape;1536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8" name="Google Shape;1538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9" name="Google Shape;1539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0" name="Google Shape;1540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1" name="Google Shape;1541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D7861C1-3620-47A6-B16A-184B9440B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292A2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.NET Core provides a built-in logging framework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8FAFF"/>
                </a:solidFill>
                <a:effectLst/>
                <a:latin typeface="var(--ds-font-family-code)"/>
              </a:rPr>
              <a:t>Microsoft.Extensions.Logging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It supports multiple logging providers (e.g., Console, Debug, File, Azure App Insights,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Logging is highly configurable and extensible.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Google Shape;1533;p39">
            <a:extLst>
              <a:ext uri="{FF2B5EF4-FFF2-40B4-BE49-F238E27FC236}">
                <a16:creationId xmlns:a16="http://schemas.microsoft.com/office/drawing/2014/main" id="{80F5735F-FECD-4622-98AB-AE42965F4212}"/>
              </a:ext>
            </a:extLst>
          </p:cNvPr>
          <p:cNvSpPr txBox="1">
            <a:spLocks/>
          </p:cNvSpPr>
          <p:nvPr/>
        </p:nvSpPr>
        <p:spPr>
          <a:xfrm>
            <a:off x="5182800" y="1786674"/>
            <a:ext cx="3471600" cy="2703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139700" indent="0"/>
            <a:r>
              <a:rPr lang="en-US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to avoid?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Sensitive information (e.g., passwords, credit card numbers).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Excessive or redundant information that adds noise.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Non-actionable or irrelevant data.</a:t>
            </a:r>
          </a:p>
          <a:p>
            <a:pPr marL="139700" indent="0"/>
            <a:endParaRPr lang="en-US" b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432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What, When and how to log</a:t>
            </a:r>
            <a:endParaRPr dirty="0"/>
          </a:p>
        </p:txBody>
      </p:sp>
      <p:sp>
        <p:nvSpPr>
          <p:cNvPr id="1533" name="Google Shape;1533;p39"/>
          <p:cNvSpPr txBox="1">
            <a:spLocks noGrp="1"/>
          </p:cNvSpPr>
          <p:nvPr>
            <p:ph type="subTitle" idx="2"/>
          </p:nvPr>
        </p:nvSpPr>
        <p:spPr>
          <a:xfrm>
            <a:off x="720000" y="1786675"/>
            <a:ext cx="44628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l"/>
            <a:r>
              <a:rPr lang="en-US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When to log?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Trace</a:t>
            </a: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 method entry/exit, variable values.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Debug</a:t>
            </a: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For development and troubleshooting.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Information</a:t>
            </a: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For general application flow.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Warning</a:t>
            </a: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For unexpected but recoverable events (persistence issues).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Error</a:t>
            </a: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For errors that impact functionality (e.g., "Failed to save data").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Critical</a:t>
            </a: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For severe failures.(</a:t>
            </a:r>
            <a:r>
              <a:rPr lang="en-US" b="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db</a:t>
            </a: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failures)</a:t>
            </a:r>
          </a:p>
        </p:txBody>
      </p:sp>
      <p:grpSp>
        <p:nvGrpSpPr>
          <p:cNvPr id="1534" name="Google Shape;1534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5" name="Google Shape;1535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6" name="Google Shape;1536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8" name="Google Shape;1538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9" name="Google Shape;1539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0" name="Google Shape;1540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1" name="Google Shape;1541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D7861C1-3620-47A6-B16A-184B9440B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292A2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.NET Core provides a built-in logging framework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8FAFF"/>
                </a:solidFill>
                <a:effectLst/>
                <a:latin typeface="var(--ds-font-family-code)"/>
              </a:rPr>
              <a:t>Microsoft.Extensions.Logging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It supports multiple logging providers (e.g., Console, Debug, File, Azure App Insights,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Logging is highly configurable and extensible.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Google Shape;1533;p39">
            <a:extLst>
              <a:ext uri="{FF2B5EF4-FFF2-40B4-BE49-F238E27FC236}">
                <a16:creationId xmlns:a16="http://schemas.microsoft.com/office/drawing/2014/main" id="{80F5735F-FECD-4622-98AB-AE42965F4212}"/>
              </a:ext>
            </a:extLst>
          </p:cNvPr>
          <p:cNvSpPr txBox="1">
            <a:spLocks/>
          </p:cNvSpPr>
          <p:nvPr/>
        </p:nvSpPr>
        <p:spPr>
          <a:xfrm>
            <a:off x="5182800" y="1786674"/>
            <a:ext cx="3752400" cy="2703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Logging at Key Points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Application startup and shutdown.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Before and after critical operations.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When exceptions occur.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When significant business events occur.</a:t>
            </a:r>
          </a:p>
          <a:p>
            <a:pPr marL="139700" indent="0"/>
            <a:endParaRPr lang="en-US" b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132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4" name="Google Shape;1484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85" name="Google Shape;1485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0" name="Google Shape;1490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1" name="Google Shape;1491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492" name="Google Shape;1492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9" name="Google Shape;1499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0" name="Google Shape;1500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7" name="Google Shape;1507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08" name="Google Shape;1508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0" name="Google Shape;1510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11" name="Google Shape;1511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3" name="Google Shape;1513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14" name="Google Shape;1514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1516" name="Google Shape;1516;p38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517" name="Google Shape;1517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18" name="Google Shape;1518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519" name="Google Shape;1519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22" name="Google Shape;1522;p38"/>
          <p:cNvSpPr txBox="1">
            <a:spLocks noGrp="1"/>
          </p:cNvSpPr>
          <p:nvPr>
            <p:ph type="title"/>
          </p:nvPr>
        </p:nvSpPr>
        <p:spPr>
          <a:xfrm>
            <a:off x="719999" y="2079325"/>
            <a:ext cx="6683509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Frameworks and tools</a:t>
            </a:r>
            <a:endParaRPr dirty="0"/>
          </a:p>
        </p:txBody>
      </p:sp>
      <p:grpSp>
        <p:nvGrpSpPr>
          <p:cNvPr id="1523" name="Google Shape;1523;p38"/>
          <p:cNvGrpSpPr/>
          <p:nvPr/>
        </p:nvGrpSpPr>
        <p:grpSpPr>
          <a:xfrm>
            <a:off x="796100" y="3221301"/>
            <a:ext cx="4558967" cy="134100"/>
            <a:chOff x="796100" y="3019701"/>
            <a:chExt cx="4558967" cy="134100"/>
          </a:xfrm>
        </p:grpSpPr>
        <p:sp>
          <p:nvSpPr>
            <p:cNvPr id="1524" name="Google Shape;1524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5" name="Google Shape;1525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6" name="Google Shape;1526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32308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Frameworks and tools</a:t>
            </a:r>
            <a:endParaRPr dirty="0"/>
          </a:p>
        </p:txBody>
      </p:sp>
      <p:sp>
        <p:nvSpPr>
          <p:cNvPr id="1533" name="Google Shape;1533;p39"/>
          <p:cNvSpPr txBox="1">
            <a:spLocks noGrp="1"/>
          </p:cNvSpPr>
          <p:nvPr>
            <p:ph type="subTitle" idx="2"/>
          </p:nvPr>
        </p:nvSpPr>
        <p:spPr>
          <a:xfrm>
            <a:off x="720000" y="1786674"/>
            <a:ext cx="7401600" cy="2058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l"/>
            <a:r>
              <a:rPr lang="en-US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Popular Logging Providers/Sinks/Exporters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Console</a:t>
            </a:r>
            <a:r>
              <a:rPr lang="en-US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For local development.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Debug</a:t>
            </a:r>
            <a:r>
              <a:rPr lang="en-US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For debugging in Visual Studio.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File</a:t>
            </a:r>
            <a:r>
              <a:rPr lang="en-US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For writing logs to a file (use </a:t>
            </a:r>
            <a:r>
              <a:rPr lang="en-US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Serilog</a:t>
            </a:r>
            <a:r>
              <a:rPr lang="en-US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or </a:t>
            </a:r>
            <a:r>
              <a:rPr lang="en-US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NLog</a:t>
            </a:r>
            <a:r>
              <a:rPr lang="en-US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).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Azure Application Insights</a:t>
            </a:r>
            <a:r>
              <a:rPr lang="en-US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For cloud-based applications.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ELK Stack </a:t>
            </a:r>
            <a:r>
              <a:rPr lang="en-US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(Elasticsearch, Logstash, Kibana): For centralized logging and analysis.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Logging Servers: </a:t>
            </a:r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Such as Seq (used in our workshop)</a:t>
            </a:r>
            <a:endParaRPr lang="en-US" i="0" dirty="0"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534" name="Google Shape;1534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5" name="Google Shape;1535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6" name="Google Shape;1536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8" name="Google Shape;1538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9" name="Google Shape;1539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0" name="Google Shape;1540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1" name="Google Shape;1541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D7861C1-3620-47A6-B16A-184B9440B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292A2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.NET Core provides a built-in logging framework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8FAFF"/>
                </a:solidFill>
                <a:effectLst/>
                <a:latin typeface="var(--ds-font-family-code)"/>
              </a:rPr>
              <a:t>Microsoft.Extensions.Logging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It supports multiple logging providers (e.g., Console, Debug, File, Azure App Insights,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Logging is highly configurable and extensible.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185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Frameworks and tools</a:t>
            </a:r>
            <a:endParaRPr dirty="0"/>
          </a:p>
        </p:txBody>
      </p:sp>
      <p:sp>
        <p:nvSpPr>
          <p:cNvPr id="1533" name="Google Shape;1533;p39"/>
          <p:cNvSpPr txBox="1">
            <a:spLocks noGrp="1"/>
          </p:cNvSpPr>
          <p:nvPr>
            <p:ph type="subTitle" idx="2"/>
          </p:nvPr>
        </p:nvSpPr>
        <p:spPr>
          <a:xfrm>
            <a:off x="720000" y="1786674"/>
            <a:ext cx="3852000" cy="2058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l"/>
            <a:r>
              <a:rPr lang="en-US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Popular </a:t>
            </a:r>
            <a:r>
              <a:rPr lang="en-US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Libraries</a:t>
            </a:r>
            <a:endParaRPr lang="en-US" b="1" i="0" dirty="0"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Serilog</a:t>
            </a:r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Most used and recommended by dotnet core community.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OpenTelemetry</a:t>
            </a:r>
            <a:r>
              <a:rPr lang="en-US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It reflects a standardized way on how to log.</a:t>
            </a:r>
          </a:p>
        </p:txBody>
      </p:sp>
      <p:grpSp>
        <p:nvGrpSpPr>
          <p:cNvPr id="1534" name="Google Shape;1534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5" name="Google Shape;1535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6" name="Google Shape;1536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8" name="Google Shape;1538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9" name="Google Shape;1539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0" name="Google Shape;1540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1" name="Google Shape;1541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D7861C1-3620-47A6-B16A-184B9440B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292A2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.NET Core provides a built-in logging framework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8FAFF"/>
                </a:solidFill>
                <a:effectLst/>
                <a:latin typeface="var(--ds-font-family-code)"/>
              </a:rPr>
              <a:t>Microsoft.Extensions.Logging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It supports multiple logging providers (e.g., Console, Debug, File, Azure App Insights,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Logging is highly configurable and extensible.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Google Shape;1533;p39">
            <a:extLst>
              <a:ext uri="{FF2B5EF4-FFF2-40B4-BE49-F238E27FC236}">
                <a16:creationId xmlns:a16="http://schemas.microsoft.com/office/drawing/2014/main" id="{F15C0618-7109-483C-8BE8-B7A2F84534CD}"/>
              </a:ext>
            </a:extLst>
          </p:cNvPr>
          <p:cNvSpPr txBox="1">
            <a:spLocks/>
          </p:cNvSpPr>
          <p:nvPr/>
        </p:nvSpPr>
        <p:spPr>
          <a:xfrm>
            <a:off x="4572000" y="1786673"/>
            <a:ext cx="3852000" cy="2058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139700" indent="0"/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We will see later on in the code review how we used </a:t>
            </a:r>
            <a:r>
              <a:rPr lang="en-US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Serilog</a:t>
            </a:r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en-US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OpenTelemetry</a:t>
            </a:r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together in order to achieve proper standardized logs.</a:t>
            </a:r>
          </a:p>
        </p:txBody>
      </p:sp>
    </p:spTree>
    <p:extLst>
      <p:ext uri="{BB962C8B-B14F-4D97-AF65-F5344CB8AC3E}">
        <p14:creationId xmlns:p14="http://schemas.microsoft.com/office/powerpoint/2010/main" val="447301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4" name="Google Shape;1484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85" name="Google Shape;1485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0" name="Google Shape;1490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1" name="Google Shape;1491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492" name="Google Shape;1492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9" name="Google Shape;1499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0" name="Google Shape;1500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7" name="Google Shape;1507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08" name="Google Shape;1508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0" name="Google Shape;1510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11" name="Google Shape;1511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3" name="Google Shape;1513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14" name="Google Shape;1514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1516" name="Google Shape;1516;p38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517" name="Google Shape;1517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18" name="Google Shape;1518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519" name="Google Shape;1519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22" name="Google Shape;1522;p38"/>
          <p:cNvSpPr txBox="1">
            <a:spLocks noGrp="1"/>
          </p:cNvSpPr>
          <p:nvPr>
            <p:ph type="title"/>
          </p:nvPr>
        </p:nvSpPr>
        <p:spPr>
          <a:xfrm>
            <a:off x="719999" y="2079325"/>
            <a:ext cx="6683509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Best Practices</a:t>
            </a:r>
            <a:endParaRPr dirty="0"/>
          </a:p>
        </p:txBody>
      </p:sp>
      <p:grpSp>
        <p:nvGrpSpPr>
          <p:cNvPr id="1523" name="Google Shape;1523;p38"/>
          <p:cNvGrpSpPr/>
          <p:nvPr/>
        </p:nvGrpSpPr>
        <p:grpSpPr>
          <a:xfrm>
            <a:off x="796100" y="2890101"/>
            <a:ext cx="4558967" cy="134100"/>
            <a:chOff x="796100" y="3019701"/>
            <a:chExt cx="4558967" cy="134100"/>
          </a:xfrm>
        </p:grpSpPr>
        <p:sp>
          <p:nvSpPr>
            <p:cNvPr id="1524" name="Google Shape;1524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5" name="Google Shape;1525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6" name="Google Shape;1526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39346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Best Practices</a:t>
            </a:r>
            <a:endParaRPr dirty="0"/>
          </a:p>
        </p:txBody>
      </p:sp>
      <p:sp>
        <p:nvSpPr>
          <p:cNvPr id="1533" name="Google Shape;1533;p39"/>
          <p:cNvSpPr txBox="1">
            <a:spLocks noGrp="1"/>
          </p:cNvSpPr>
          <p:nvPr>
            <p:ph type="subTitle" idx="2"/>
          </p:nvPr>
        </p:nvSpPr>
        <p:spPr>
          <a:xfrm>
            <a:off x="720000" y="1786674"/>
            <a:ext cx="3852000" cy="2058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Use appropriate log levels.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Include meaningful context in logs.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Use structured logging for better analysis.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Centralize logs for distributed systems.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Regularly review and clean up logs.</a:t>
            </a:r>
          </a:p>
          <a:p>
            <a:pPr marL="139700" indent="0" algn="l"/>
            <a:endParaRPr lang="en-US" i="0" dirty="0"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534" name="Google Shape;1534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5" name="Google Shape;1535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6" name="Google Shape;1536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8" name="Google Shape;1538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9" name="Google Shape;1539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0" name="Google Shape;1540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1" name="Google Shape;1541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D7861C1-3620-47A6-B16A-184B9440B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292A2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.NET Core provides a built-in logging framework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8FAFF"/>
                </a:solidFill>
                <a:effectLst/>
                <a:latin typeface="var(--ds-font-family-code)"/>
              </a:rPr>
              <a:t>Microsoft.Extensions.Logging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It supports multiple logging providers (e.g., Console, Debug, File, Azure App Insights,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Logging is highly configurable and extensible.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Google Shape;1533;p39">
            <a:extLst>
              <a:ext uri="{FF2B5EF4-FFF2-40B4-BE49-F238E27FC236}">
                <a16:creationId xmlns:a16="http://schemas.microsoft.com/office/drawing/2014/main" id="{F15C0618-7109-483C-8BE8-B7A2F84534CD}"/>
              </a:ext>
            </a:extLst>
          </p:cNvPr>
          <p:cNvSpPr txBox="1">
            <a:spLocks/>
          </p:cNvSpPr>
          <p:nvPr/>
        </p:nvSpPr>
        <p:spPr>
          <a:xfrm>
            <a:off x="4572000" y="1542689"/>
            <a:ext cx="3852000" cy="2058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Pitfalls to Avoid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Logging sensitive information.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Overloading logs with unnecessary details.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Ignoring log levels (e.g., logging everything as "Information").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Failing to handle log rotation and retention.</a:t>
            </a:r>
          </a:p>
          <a:p>
            <a:pPr marL="139700" indent="0"/>
            <a:endParaRPr lang="en-US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358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4" name="Google Shape;1484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85" name="Google Shape;1485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0" name="Google Shape;1490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1" name="Google Shape;1491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492" name="Google Shape;1492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9" name="Google Shape;1499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0" name="Google Shape;1500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7" name="Google Shape;1507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08" name="Google Shape;1508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0" name="Google Shape;1510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11" name="Google Shape;1511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3" name="Google Shape;1513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14" name="Google Shape;1514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1516" name="Google Shape;1516;p38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517" name="Google Shape;1517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18" name="Google Shape;1518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519" name="Google Shape;1519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22" name="Google Shape;1522;p38"/>
          <p:cNvSpPr txBox="1">
            <a:spLocks noGrp="1"/>
          </p:cNvSpPr>
          <p:nvPr>
            <p:ph type="title"/>
          </p:nvPr>
        </p:nvSpPr>
        <p:spPr>
          <a:xfrm>
            <a:off x="719999" y="2079325"/>
            <a:ext cx="6683509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Code Review</a:t>
            </a:r>
            <a:endParaRPr dirty="0"/>
          </a:p>
        </p:txBody>
      </p:sp>
      <p:grpSp>
        <p:nvGrpSpPr>
          <p:cNvPr id="1523" name="Google Shape;1523;p38"/>
          <p:cNvGrpSpPr/>
          <p:nvPr/>
        </p:nvGrpSpPr>
        <p:grpSpPr>
          <a:xfrm>
            <a:off x="796100" y="2890101"/>
            <a:ext cx="4558967" cy="134100"/>
            <a:chOff x="796100" y="3019701"/>
            <a:chExt cx="4558967" cy="134100"/>
          </a:xfrm>
        </p:grpSpPr>
        <p:sp>
          <p:nvSpPr>
            <p:cNvPr id="1524" name="Google Shape;1524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5" name="Google Shape;1525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6" name="Google Shape;1526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17195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Code Review</a:t>
            </a:r>
            <a:endParaRPr dirty="0"/>
          </a:p>
        </p:txBody>
      </p:sp>
      <p:sp>
        <p:nvSpPr>
          <p:cNvPr id="1533" name="Google Shape;1533;p39"/>
          <p:cNvSpPr txBox="1">
            <a:spLocks noGrp="1"/>
          </p:cNvSpPr>
          <p:nvPr>
            <p:ph type="subTitle" idx="2"/>
          </p:nvPr>
        </p:nvSpPr>
        <p:spPr>
          <a:xfrm>
            <a:off x="720000" y="1786674"/>
            <a:ext cx="3852000" cy="2058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Serilog</a:t>
            </a:r>
            <a:r>
              <a:rPr lang="en-US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Configuration with </a:t>
            </a:r>
            <a:r>
              <a:rPr lang="en-US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opentelemetry</a:t>
            </a:r>
            <a:r>
              <a:rPr lang="en-US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Seeding the database.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Database common exceptions.</a:t>
            </a:r>
            <a:endParaRPr lang="en-US" i="0" dirty="0"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Go over service logs.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Health Checks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Correlation id </a:t>
            </a:r>
          </a:p>
        </p:txBody>
      </p:sp>
      <p:grpSp>
        <p:nvGrpSpPr>
          <p:cNvPr id="1534" name="Google Shape;1534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5" name="Google Shape;1535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6" name="Google Shape;1536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8" name="Google Shape;1538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9" name="Google Shape;1539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0" name="Google Shape;1540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1" name="Google Shape;1541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D7861C1-3620-47A6-B16A-184B9440B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292A2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.NET Core provides a built-in logging framework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8FAFF"/>
                </a:solidFill>
                <a:effectLst/>
                <a:latin typeface="var(--ds-font-family-code)"/>
              </a:rPr>
              <a:t>Microsoft.Extensions.Logging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It supports multiple logging providers (e.g., Console, Debug, File, Azure App Insights,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Logging is highly configurable and extensible.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384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4" name="Google Shape;1484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85" name="Google Shape;1485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0" name="Google Shape;1490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1" name="Google Shape;1491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492" name="Google Shape;1492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9" name="Google Shape;1499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0" name="Google Shape;1500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7" name="Google Shape;1507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08" name="Google Shape;1508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0" name="Google Shape;1510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11" name="Google Shape;1511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3" name="Google Shape;1513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14" name="Google Shape;1514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grpSp>
        <p:nvGrpSpPr>
          <p:cNvPr id="1516" name="Google Shape;1516;p38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517" name="Google Shape;1517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18" name="Google Shape;1518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519" name="Google Shape;1519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22" name="Google Shape;1522;p38"/>
          <p:cNvSpPr txBox="1">
            <a:spLocks noGrp="1"/>
          </p:cNvSpPr>
          <p:nvPr>
            <p:ph type="title"/>
          </p:nvPr>
        </p:nvSpPr>
        <p:spPr>
          <a:xfrm>
            <a:off x="719999" y="2079325"/>
            <a:ext cx="6683509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Hands on exercise</a:t>
            </a:r>
            <a:endParaRPr dirty="0"/>
          </a:p>
        </p:txBody>
      </p:sp>
      <p:grpSp>
        <p:nvGrpSpPr>
          <p:cNvPr id="1523" name="Google Shape;1523;p38"/>
          <p:cNvGrpSpPr/>
          <p:nvPr/>
        </p:nvGrpSpPr>
        <p:grpSpPr>
          <a:xfrm>
            <a:off x="796100" y="2890101"/>
            <a:ext cx="4558967" cy="134100"/>
            <a:chOff x="796100" y="3019701"/>
            <a:chExt cx="4558967" cy="134100"/>
          </a:xfrm>
        </p:grpSpPr>
        <p:sp>
          <p:nvSpPr>
            <p:cNvPr id="1524" name="Google Shape;1524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5" name="Google Shape;1525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6" name="Google Shape;1526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81914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Code Review</a:t>
            </a:r>
            <a:endParaRPr dirty="0"/>
          </a:p>
        </p:txBody>
      </p:sp>
      <p:sp>
        <p:nvSpPr>
          <p:cNvPr id="1533" name="Google Shape;1533;p39"/>
          <p:cNvSpPr txBox="1">
            <a:spLocks noGrp="1"/>
          </p:cNvSpPr>
          <p:nvPr>
            <p:ph type="subTitle" idx="2"/>
          </p:nvPr>
        </p:nvSpPr>
        <p:spPr>
          <a:xfrm>
            <a:off x="720000" y="1786674"/>
            <a:ext cx="3852000" cy="2058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Serilog</a:t>
            </a:r>
            <a:r>
              <a:rPr lang="en-US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Configuration with </a:t>
            </a:r>
            <a:r>
              <a:rPr lang="en-US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opentelemetry</a:t>
            </a:r>
            <a:r>
              <a:rPr lang="en-US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Seeding the database.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Database common exceptions.</a:t>
            </a:r>
            <a:endParaRPr lang="en-US" i="0" dirty="0"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Go over service logs.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HealthChecks</a:t>
            </a:r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(Custom/Existing ones)</a:t>
            </a:r>
            <a:endParaRPr lang="en-US" i="0" dirty="0"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534" name="Google Shape;1534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5" name="Google Shape;1535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6" name="Google Shape;1536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8" name="Google Shape;1538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9" name="Google Shape;1539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0" name="Google Shape;1540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1" name="Google Shape;1541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D7861C1-3620-47A6-B16A-184B9440B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292A2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.NET Core provides a built-in logging framework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8FAFF"/>
                </a:solidFill>
                <a:effectLst/>
                <a:latin typeface="var(--ds-font-family-code)"/>
              </a:rPr>
              <a:t>Microsoft.Extensions.Logging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It supports multiple logging providers (e.g., Console, Debug, File, Azure App Insights,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8FAFF"/>
                </a:solidFill>
                <a:effectLst/>
                <a:latin typeface="Inter"/>
              </a:rPr>
              <a:t>Logging is highly configurable and extensible.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46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Practical exercise</a:t>
            </a:r>
            <a:endParaRPr dirty="0"/>
          </a:p>
        </p:txBody>
      </p:sp>
      <p:sp>
        <p:nvSpPr>
          <p:cNvPr id="2075" name="Google Shape;2075;p51"/>
          <p:cNvSpPr txBox="1">
            <a:spLocks noGrp="1"/>
          </p:cNvSpPr>
          <p:nvPr>
            <p:ph type="subTitle" idx="1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IBM Plex Mono"/>
                <a:ea typeface="IBM Plex Mono"/>
                <a:cs typeface="IBM Plex Mono"/>
                <a:sym typeface="IBM Plex Mono"/>
              </a:rPr>
              <a:t>Objective:</a:t>
            </a:r>
            <a:endParaRPr sz="2000" b="1" dirty="0">
              <a:latin typeface="IBM Plex Mono"/>
              <a:ea typeface="IBM Plex Mono"/>
              <a:cs typeface="IBM Plex Mono"/>
              <a:sym typeface="IBM Plex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Create a small project with simple crud services, connect to a </a:t>
            </a:r>
            <a:r>
              <a:rPr lang="en-US" dirty="0" err="1"/>
              <a:t>db</a:t>
            </a:r>
            <a:r>
              <a:rPr lang="en-US" dirty="0"/>
              <a:t> and use logging.</a:t>
            </a: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b="1" dirty="0"/>
              <a:t>Instructions:</a:t>
            </a:r>
            <a:endParaRPr b="1" dirty="0"/>
          </a:p>
          <a:p>
            <a:pPr marL="800100" indent="-342900">
              <a:spcBef>
                <a:spcPts val="1000"/>
              </a:spcBef>
            </a:pPr>
            <a:r>
              <a:rPr lang="en-US" dirty="0"/>
              <a:t>Create a dotnet core project.</a:t>
            </a:r>
          </a:p>
          <a:p>
            <a:pPr marL="800100" indent="-342900">
              <a:spcBef>
                <a:spcPts val="1000"/>
              </a:spcBef>
            </a:pPr>
            <a:r>
              <a:rPr lang="en-US" dirty="0"/>
              <a:t>Install and configure </a:t>
            </a:r>
            <a:r>
              <a:rPr lang="en-US" dirty="0" err="1"/>
              <a:t>serilog</a:t>
            </a:r>
            <a:r>
              <a:rPr lang="en-US" dirty="0"/>
              <a:t> and telemetry.</a:t>
            </a:r>
          </a:p>
          <a:p>
            <a:pPr marL="800100" indent="-342900">
              <a:spcBef>
                <a:spcPts val="1000"/>
              </a:spcBef>
            </a:pPr>
            <a:r>
              <a:rPr lang="en-US" dirty="0"/>
              <a:t>Implement </a:t>
            </a:r>
            <a:r>
              <a:rPr lang="en-US" dirty="0" err="1"/>
              <a:t>ExceptionHandlers</a:t>
            </a:r>
            <a:r>
              <a:rPr lang="en-US" dirty="0"/>
              <a:t>.</a:t>
            </a:r>
          </a:p>
          <a:p>
            <a:pPr marL="800100" indent="-342900">
              <a:spcBef>
                <a:spcPts val="1000"/>
              </a:spcBef>
            </a:pPr>
            <a:r>
              <a:rPr lang="en-US" dirty="0"/>
              <a:t>Create services.</a:t>
            </a:r>
          </a:p>
          <a:p>
            <a:pPr marL="800100" indent="-342900">
              <a:spcBef>
                <a:spcPts val="1000"/>
              </a:spcBef>
            </a:pPr>
            <a:r>
              <a:rPr lang="en-US" dirty="0"/>
              <a:t>Write proper logs.</a:t>
            </a:r>
            <a:endParaRPr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4" name="Google Shape;1484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85" name="Google Shape;1485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0" name="Google Shape;1490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1" name="Google Shape;1491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492" name="Google Shape;1492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9" name="Google Shape;1499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0" name="Google Shape;1500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7" name="Google Shape;1507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08" name="Google Shape;1508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0" name="Google Shape;1510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11" name="Google Shape;1511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3" name="Google Shape;1513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6" name="Google Shape;1516;p38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517" name="Google Shape;1517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18" name="Google Shape;1518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519" name="Google Shape;1519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8" name="Google Shape;2412;p64">
            <a:extLst>
              <a:ext uri="{FF2B5EF4-FFF2-40B4-BE49-F238E27FC236}">
                <a16:creationId xmlns:a16="http://schemas.microsoft.com/office/drawing/2014/main" id="{607541E3-8C7E-4EE1-A513-8953F7FAFB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0210" y="1860188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 dirty="0"/>
              <a:t>Thanks!</a:t>
            </a:r>
            <a:endParaRPr sz="7000" dirty="0"/>
          </a:p>
        </p:txBody>
      </p:sp>
    </p:spTree>
    <p:extLst>
      <p:ext uri="{BB962C8B-B14F-4D97-AF65-F5344CB8AC3E}">
        <p14:creationId xmlns:p14="http://schemas.microsoft.com/office/powerpoint/2010/main" val="3290926778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967</Words>
  <Application>Microsoft Office PowerPoint</Application>
  <PresentationFormat>On-screen Show (16:9)</PresentationFormat>
  <Paragraphs>141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Poppins</vt:lpstr>
      <vt:lpstr>Open Sans</vt:lpstr>
      <vt:lpstr>Inter</vt:lpstr>
      <vt:lpstr>Source Code Pro</vt:lpstr>
      <vt:lpstr>Arial</vt:lpstr>
      <vt:lpstr>IBM Plex Mono</vt:lpstr>
      <vt:lpstr>var(--ds-font-family-code)</vt:lpstr>
      <vt:lpstr>Introduction to Coding Workshop by Slidesgo</vt:lpstr>
      <vt:lpstr>Introduction to Logging Workshop</vt:lpstr>
      <vt:lpstr>Table of contents</vt:lpstr>
      <vt:lpstr>01</vt:lpstr>
      <vt:lpstr>Introduction</vt:lpstr>
      <vt:lpstr>Introduction</vt:lpstr>
      <vt:lpstr>02</vt:lpstr>
      <vt:lpstr>What, When and how to log</vt:lpstr>
      <vt:lpstr>What, When and how to log</vt:lpstr>
      <vt:lpstr>03</vt:lpstr>
      <vt:lpstr>Frameworks and tools</vt:lpstr>
      <vt:lpstr>Frameworks and tools</vt:lpstr>
      <vt:lpstr>04</vt:lpstr>
      <vt:lpstr>Best Practices</vt:lpstr>
      <vt:lpstr>05</vt:lpstr>
      <vt:lpstr>Code Review</vt:lpstr>
      <vt:lpstr>06</vt:lpstr>
      <vt:lpstr>Code Review</vt:lpstr>
      <vt:lpstr>Practical exercise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Logging Workshop</dc:title>
  <dc:creator>Dev-ElieK</dc:creator>
  <cp:lastModifiedBy>Elie Khadij</cp:lastModifiedBy>
  <cp:revision>11</cp:revision>
  <dcterms:modified xsi:type="dcterms:W3CDTF">2025-02-25T15:20:57Z</dcterms:modified>
</cp:coreProperties>
</file>